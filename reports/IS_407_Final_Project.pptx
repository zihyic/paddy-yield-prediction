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6858000" cy="9144000"/>
  <p:embeddedFontLst>
    <p:embeddedFont>
      <p:font typeface="Play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ya Bernstei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77011"/>
  </p:normalViewPr>
  <p:slideViewPr>
    <p:cSldViewPr snapToGrid="0">
      <p:cViewPr varScale="1">
        <p:scale>
          <a:sx n="122" d="100"/>
          <a:sy n="122" d="100"/>
        </p:scale>
        <p:origin x="138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5-13T17:10:27.138" idx="1">
    <p:pos x="396" y="57"/>
    <p:text>Add dataset reference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7f34e88be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e7f34e88be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7f34e88be_2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33" name="Google Shape;133;g3e7f34e88be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7f34e88be_2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e7f34e88be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7f34e88be_2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e7f34e88be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1356306d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1356306d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7f34e88be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7f34e88be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7f34e88b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7f34e88b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188dbd626_3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188dbd626_3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7f34e88b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7f34e88b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1356306dd_5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87" name="Google Shape;187;g3e1356306dd_5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1356306dd_1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e1356306dd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1356306dd_3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1356306dd_3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1356306d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1356306d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7f34e88be_2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e7f34e88be_2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7f34e88be_2_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e7f34e88be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7f34e88be_2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 dirty="0"/>
          </a:p>
        </p:txBody>
      </p:sp>
      <p:sp>
        <p:nvSpPr>
          <p:cNvPr id="235" name="Google Shape;235;g3e7f34e88be_2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7f34e88be_2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2" name="Google Shape;242;g3e7f34e88be_2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188dbd626_3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g3e188dbd626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ctrTitle"/>
          </p:nvPr>
        </p:nvSpPr>
        <p:spPr>
          <a:xfrm>
            <a:off x="266400" y="848050"/>
            <a:ext cx="8611200" cy="15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45"/>
              <a:buFont typeface="Play"/>
              <a:buNone/>
            </a:pPr>
            <a:r>
              <a:rPr lang="zh-CN" sz="3075"/>
              <a:t>Predicting Paddy Yield with Machine Learning: An Integrated Analysis of Climate, Agricultural Management, and Ensemble Models</a:t>
            </a:r>
            <a:endParaRPr sz="3075"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zh-CN"/>
              <a:t>By Ke Xu, Maya Bernstein, Qiuyu Wu, Hsin-Tzu Lin, Zih-Yi Cao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zh-CN"/>
              <a:t>Introduction</a:t>
            </a:r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Rice as a major global staple crop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Key role in food security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Yield affected by changing environmental conditions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Climate variability increased production risks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Accurate yield understanding supported better planning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CN"/>
              <a:t>Precision agriculture improved crop management decisions</a:t>
            </a:r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zh-CN"/>
              <a:t>Literature Review</a:t>
            </a:r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1"/>
          </p:nvPr>
        </p:nvSpPr>
        <p:spPr>
          <a:xfrm>
            <a:off x="173475" y="1138875"/>
            <a:ext cx="8649000" cy="3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lang="zh-CN" sz="1600" b="1" dirty="0"/>
              <a:t>Muthukumaran et al., 2023 - A Hybrid Machine Learning Model With Combined Wrapper Feature Selection Techniques to Improve the Yield of Paddy</a:t>
            </a:r>
            <a:endParaRPr sz="1600" b="1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zh-CN" sz="1600" dirty="0"/>
              <a:t>Strongly influenced by combined effects of environmental condtions and agricultural management practices using ML models (e.g. RF and SVM) </a:t>
            </a:r>
            <a:endParaRPr sz="1600" dirty="0"/>
          </a:p>
          <a:p>
            <a:pPr marL="127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altLang="zh-CN" sz="1600" b="1" dirty="0"/>
              <a:t>2</a:t>
            </a:r>
            <a:r>
              <a:rPr lang="zh-CN" altLang="en-US" sz="1600" b="1" dirty="0"/>
              <a:t>）</a:t>
            </a:r>
            <a:r>
              <a:rPr lang="zh-CN" sz="1600" b="1" dirty="0"/>
              <a:t>Jeong et al., 2016 - Random Forests for Global and Regional Crop Yield Predictions</a:t>
            </a:r>
            <a:endParaRPr sz="1600" b="1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zh-CN" sz="1600" dirty="0"/>
              <a:t>RF model: accurately predict crop yields across regional and global scales by combining features </a:t>
            </a:r>
            <a:endParaRPr sz="1600" dirty="0"/>
          </a:p>
          <a:p>
            <a:pPr marL="1270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altLang="zh-CN" sz="1600" b="1" dirty="0"/>
              <a:t>3</a:t>
            </a:r>
            <a:r>
              <a:rPr lang="zh-CN" altLang="en-US" sz="1600" b="1" dirty="0"/>
              <a:t>）</a:t>
            </a:r>
            <a:r>
              <a:rPr lang="zh-CN" sz="1600" b="1" dirty="0"/>
              <a:t>Sah et al., 2024 - Rice Yield Prediction Through Integration of Biophysical Parameters with SAR and Optical Remote Sensing Data Using Machine Learning Models</a:t>
            </a:r>
            <a:endParaRPr sz="1600" b="1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600"/>
              <a:buChar char="-"/>
            </a:pPr>
            <a:r>
              <a:rPr lang="zh-CN" sz="1600" dirty="0"/>
              <a:t>Advanced ML models (e.g. XGBoost and Neural Networks) recognized nonlinear relationships in features</a:t>
            </a:r>
            <a:endParaRPr sz="1600" dirty="0"/>
          </a:p>
        </p:txBody>
      </p:sp>
      <p:sp>
        <p:nvSpPr>
          <p:cNvPr id="144" name="Google Shape;144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>
            <a:spLocks noGrp="1"/>
          </p:cNvSpPr>
          <p:nvPr>
            <p:ph type="title"/>
          </p:nvPr>
        </p:nvSpPr>
        <p:spPr>
          <a:xfrm>
            <a:off x="588950" y="2142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zh-CN"/>
              <a:t>Research Questions </a:t>
            </a:r>
            <a:endParaRPr/>
          </a:p>
        </p:txBody>
      </p:sp>
      <p:sp>
        <p:nvSpPr>
          <p:cNvPr id="150" name="Google Shape;150;p28"/>
          <p:cNvSpPr txBox="1">
            <a:spLocks noGrp="1"/>
          </p:cNvSpPr>
          <p:nvPr>
            <p:ph type="body" idx="1"/>
          </p:nvPr>
        </p:nvSpPr>
        <p:spPr>
          <a:xfrm>
            <a:off x="116700" y="1034500"/>
            <a:ext cx="8910600" cy="3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zh-CN" sz="1800" dirty="0"/>
              <a:t>How climate and weather variables across growth stages influence yield?</a:t>
            </a:r>
            <a:endParaRPr sz="1800" dirty="0"/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1143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CN" sz="1800" dirty="0"/>
              <a:t>2</a:t>
            </a:r>
            <a:r>
              <a:rPr lang="zh-CN" altLang="en-US" sz="1800" dirty="0"/>
              <a:t>）</a:t>
            </a:r>
            <a:r>
              <a:rPr lang="zh-CN" sz="1800" dirty="0"/>
              <a:t>Can feature selectionimprove prediction accuracy and reduce overfitting?</a:t>
            </a:r>
            <a:endParaRPr sz="1800" dirty="0"/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1143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CN" sz="1800" dirty="0"/>
              <a:t>3</a:t>
            </a:r>
            <a:r>
              <a:rPr lang="zh-CN" altLang="en-US" sz="1800" dirty="0"/>
              <a:t>）</a:t>
            </a:r>
            <a:r>
              <a:rPr lang="zh-CN" sz="1800" dirty="0"/>
              <a:t>What is the nature of the effect of the agricultural management practices on paddy yield? </a:t>
            </a:r>
            <a:endParaRPr sz="1800" dirty="0"/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1143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CN" sz="1800" dirty="0"/>
              <a:t>4</a:t>
            </a:r>
            <a:r>
              <a:rPr lang="zh-CN" altLang="en-US" sz="1800" dirty="0"/>
              <a:t>）</a:t>
            </a:r>
            <a:r>
              <a:rPr lang="zh-CN" sz="1800" dirty="0"/>
              <a:t>Which machine learning methods provide the most accurate and practical estimates of paddy yield for farm decision-making?</a:t>
            </a:r>
            <a:endParaRPr sz="1800" dirty="0"/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1143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CN" sz="1800" dirty="0"/>
              <a:t>5</a:t>
            </a:r>
            <a:r>
              <a:rPr lang="zh-CN" altLang="en-US" sz="1800" dirty="0"/>
              <a:t>）</a:t>
            </a:r>
            <a:r>
              <a:rPr lang="zh-CN" sz="1800" dirty="0"/>
              <a:t>How can machine learning yield predictions be translated into practical agricultural decision-support categories?</a:t>
            </a:r>
            <a:endParaRPr sz="1800" dirty="0"/>
          </a:p>
        </p:txBody>
      </p:sp>
      <p:sp>
        <p:nvSpPr>
          <p:cNvPr id="151" name="Google Shape;151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>
            <a:spLocks noGrp="1"/>
          </p:cNvSpPr>
          <p:nvPr>
            <p:ph type="title"/>
          </p:nvPr>
        </p:nvSpPr>
        <p:spPr>
          <a:xfrm>
            <a:off x="585300" y="287500"/>
            <a:ext cx="7973400" cy="537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Methods</a:t>
            </a:r>
            <a:r>
              <a:rPr lang="zh-CN" sz="11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body" idx="1"/>
          </p:nvPr>
        </p:nvSpPr>
        <p:spPr>
          <a:xfrm>
            <a:off x="628650" y="686725"/>
            <a:ext cx="8268300" cy="4633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400" b="1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2400" b="1"/>
              <a:t>Sample and dataset</a:t>
            </a:r>
            <a:endParaRPr sz="2400" b="1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400" b="1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Obtained from a public paddy farming dataset of UCI</a:t>
            </a:r>
            <a:endParaRPr sz="2400"/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2,789 records and 44 predictors + 1 target variable (Paddy yield)</a:t>
            </a:r>
            <a:endParaRPr sz="2400"/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Variables include climate and agricultural management factors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5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>
            <a:spLocks noGrp="1"/>
          </p:cNvSpPr>
          <p:nvPr>
            <p:ph type="title"/>
          </p:nvPr>
        </p:nvSpPr>
        <p:spPr>
          <a:xfrm>
            <a:off x="585300" y="287500"/>
            <a:ext cx="7973400" cy="537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Methods</a:t>
            </a:r>
            <a:r>
              <a:rPr lang="zh-CN" sz="11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63" name="Google Shape;163;p30"/>
          <p:cNvSpPr txBox="1">
            <a:spLocks noGrp="1"/>
          </p:cNvSpPr>
          <p:nvPr>
            <p:ph type="body" idx="1"/>
          </p:nvPr>
        </p:nvSpPr>
        <p:spPr>
          <a:xfrm>
            <a:off x="628650" y="686725"/>
            <a:ext cx="8268300" cy="4633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4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29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916"/>
              <a:t>The five research questions were designed as a connected analytical pipeline：</a:t>
            </a:r>
            <a:br>
              <a:rPr lang="zh-CN" sz="3916"/>
            </a:br>
            <a:r>
              <a:rPr lang="zh-CN" sz="3916" b="1"/>
              <a:t> variable analysis → feature refinement → prediction modeling → decision support</a:t>
            </a:r>
            <a:endParaRPr sz="3916" b="1"/>
          </a:p>
          <a:p>
            <a:pPr marL="457200" lvl="0" indent="-32934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1277"/>
              <a:buChar char="●"/>
            </a:pPr>
            <a:r>
              <a:rPr lang="zh-CN" sz="3916" b="1"/>
              <a:t>Variable analysis:</a:t>
            </a:r>
            <a:br>
              <a:rPr lang="zh-CN" sz="3916"/>
            </a:br>
            <a:r>
              <a:rPr lang="zh-CN" sz="3916"/>
              <a:t> Pearson correlation, RF feature importance, PCA, generalized models</a:t>
            </a:r>
            <a:endParaRPr sz="3916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16"/>
          </a:p>
          <a:p>
            <a:pPr marL="457200" lvl="0" indent="-32934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1277"/>
              <a:buChar char="●"/>
            </a:pPr>
            <a:r>
              <a:rPr lang="zh-CN" sz="3916" b="1"/>
              <a:t>Feature refinement:</a:t>
            </a:r>
            <a:br>
              <a:rPr lang="zh-CN" sz="3916"/>
            </a:br>
            <a:r>
              <a:rPr lang="zh-CN" sz="3916"/>
              <a:t> feature selection, reduced-feature comparison, overfitting evaluation</a:t>
            </a:r>
            <a:endParaRPr sz="3916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16"/>
          </a:p>
          <a:p>
            <a:pPr marL="457200" lvl="0" indent="-32934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1277"/>
              <a:buChar char="●"/>
            </a:pPr>
            <a:r>
              <a:rPr lang="zh-CN" sz="3916" b="1"/>
              <a:t>Prediction modeling:</a:t>
            </a:r>
            <a:br>
              <a:rPr lang="zh-CN" sz="3916"/>
            </a:br>
            <a:r>
              <a:rPr lang="zh-CN" sz="3916"/>
              <a:t> multi-model benchmarking, 80/20 validation, model suitability analysis</a:t>
            </a:r>
            <a:endParaRPr sz="3916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16"/>
          </a:p>
          <a:p>
            <a:pPr marL="457200" lvl="0" indent="-32934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1277"/>
              <a:buChar char="●"/>
            </a:pPr>
            <a:r>
              <a:rPr lang="zh-CN" sz="3916" b="1"/>
              <a:t>Decision-support translation:</a:t>
            </a:r>
            <a:br>
              <a:rPr lang="zh-CN" sz="3916"/>
            </a:br>
            <a:r>
              <a:rPr lang="zh-CN" sz="3916"/>
              <a:t> K-means clustering, category profiling</a:t>
            </a:r>
            <a:endParaRPr sz="3916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586"/>
              <a:buFont typeface="Arial"/>
              <a:buNone/>
            </a:pPr>
            <a:endParaRPr sz="2779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460275" y="197319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Results/Discussion (RQ1)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75" y="893000"/>
            <a:ext cx="8260201" cy="325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1"/>
          <p:cNvSpPr txBox="1"/>
          <p:nvPr/>
        </p:nvSpPr>
        <p:spPr>
          <a:xfrm>
            <a:off x="211825" y="4272850"/>
            <a:ext cx="81939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All 20 Pearson r values near zero (max |r| = 0.020, min p = 0.26) — no climate variable consistently predicts yield alone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>
            <a:spLocks noGrp="1"/>
          </p:cNvSpPr>
          <p:nvPr>
            <p:ph type="title"/>
          </p:nvPr>
        </p:nvSpPr>
        <p:spPr>
          <a:xfrm>
            <a:off x="460275" y="197319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Results/Discussion (RQ1)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6" name="Google Shape;17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275" y="899263"/>
            <a:ext cx="6941825" cy="30771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2"/>
          <p:cNvSpPr txBox="1"/>
          <p:nvPr/>
        </p:nvSpPr>
        <p:spPr>
          <a:xfrm>
            <a:off x="460264" y="4177625"/>
            <a:ext cx="85314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dk1"/>
                </a:solidFill>
              </a:rPr>
              <a:t>RF spreads importance broadly (max cell 11.7%); Wind Speed (Stage 1) and Humidity are top contributors, but no single stage dominates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title"/>
          </p:nvPr>
        </p:nvSpPr>
        <p:spPr>
          <a:xfrm>
            <a:off x="433325" y="16669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Results/Discussion (RQ1)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3"/>
          <p:cNvSpPr txBox="1"/>
          <p:nvPr/>
        </p:nvSpPr>
        <p:spPr>
          <a:xfrm>
            <a:off x="182025" y="3934175"/>
            <a:ext cx="87594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1"/>
                </a:solidFill>
              </a:rPr>
              <a:t>Climate-only CV R² = −18.16 vs. +0.223 with management/soil/variety — climate alone cannot predict yield; coarse data granularity (3–7 distinct values per column) further limits its predictive power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325" y="915275"/>
            <a:ext cx="8256799" cy="27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zh-CN" sz="2400"/>
              <a:t>RQ2 Results: Random Forest gained the clearest benefit from feature selection</a:t>
            </a:r>
            <a:endParaRPr sz="2400"/>
          </a:p>
        </p:txBody>
      </p:sp>
      <p:sp>
        <p:nvSpPr>
          <p:cNvPr id="190" name="Google Shape;190;p3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zh-CN" sz="1800"/>
              <a:t>Random Forest + MI achieved the best balance between high prediction accuracy and lower overfitting.</a:t>
            </a:r>
            <a:endParaRPr sz="1800"/>
          </a:p>
        </p:txBody>
      </p:sp>
      <p:sp>
        <p:nvSpPr>
          <p:cNvPr id="191" name="Google Shape;191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  <p:pic>
        <p:nvPicPr>
          <p:cNvPr id="192" name="Google Shape;192;p34" title="Screenshot 2026-05-12 at 3.10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4750" y="1960497"/>
            <a:ext cx="4782575" cy="2856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4" title="Screenshot 2026-05-12 at 3.11.5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49" y="2027133"/>
            <a:ext cx="3376100" cy="177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zh-CN" sz="2500"/>
              <a:t>RQ3: What is the nature of the effect of the agricultural management practices on paddy yield?</a:t>
            </a:r>
            <a:endParaRPr sz="2500"/>
          </a:p>
        </p:txBody>
      </p:sp>
      <p:sp>
        <p:nvSpPr>
          <p:cNvPr id="199" name="Google Shape;199;p35"/>
          <p:cNvSpPr txBox="1">
            <a:spLocks noGrp="1"/>
          </p:cNvSpPr>
          <p:nvPr>
            <p:ph type="body" idx="1"/>
          </p:nvPr>
        </p:nvSpPr>
        <p:spPr>
          <a:xfrm>
            <a:off x="4919325" y="1368875"/>
            <a:ext cx="1898100" cy="8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333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zh-CN" sz="1500"/>
              <a:t>GAM: Lowest RMSE and AIC</a:t>
            </a:r>
            <a:endParaRPr sz="1500"/>
          </a:p>
        </p:txBody>
      </p:sp>
      <p:sp>
        <p:nvSpPr>
          <p:cNvPr id="200" name="Google Shape;200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  <p:pic>
        <p:nvPicPr>
          <p:cNvPr id="201" name="Google Shape;201;p35"/>
          <p:cNvPicPr preferRelativeResize="0"/>
          <p:nvPr/>
        </p:nvPicPr>
        <p:blipFill rotWithShape="1">
          <a:blip r:embed="rId3">
            <a:alphaModFix/>
          </a:blip>
          <a:srcRect b="3939"/>
          <a:stretch/>
        </p:blipFill>
        <p:spPr>
          <a:xfrm>
            <a:off x="628650" y="1282487"/>
            <a:ext cx="4226075" cy="106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7805" y="2315738"/>
            <a:ext cx="3182894" cy="239236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5"/>
          <p:cNvSpPr txBox="1">
            <a:spLocks noGrp="1"/>
          </p:cNvSpPr>
          <p:nvPr>
            <p:ph type="body" idx="1"/>
          </p:nvPr>
        </p:nvSpPr>
        <p:spPr>
          <a:xfrm>
            <a:off x="1370725" y="2702875"/>
            <a:ext cx="3958500" cy="14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lvl="0" indent="-1333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zh-CN" sz="1500"/>
              <a:t>Significant nonlinear relationship with paddy yield (p &lt; 0.001)</a:t>
            </a:r>
            <a:endParaRPr sz="1500"/>
          </a:p>
          <a:p>
            <a:pPr marL="177800" lvl="0" indent="-1333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zh-CN" sz="1500"/>
              <a:t>Effect size: Total variation of ~30,475 kg</a:t>
            </a:r>
            <a:endParaRPr sz="1500"/>
          </a:p>
          <a:p>
            <a:pPr marL="177800" lvl="0" indent="-1333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zh-CN" sz="1500"/>
              <a:t>Dominant driver of yield outcomes (statistically significant + meaingful effects)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>
            <a:spLocks noGrp="1"/>
          </p:cNvSpPr>
          <p:nvPr>
            <p:ph type="title"/>
          </p:nvPr>
        </p:nvSpPr>
        <p:spPr>
          <a:xfrm>
            <a:off x="403050" y="281175"/>
            <a:ext cx="7424400" cy="11049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0"/>
              <a:t>RQ4 Results: Which machine learning methods provide the most accurate and practical estimates of paddy yield for farm decision-making?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endParaRPr sz="2500"/>
          </a:p>
        </p:txBody>
      </p:sp>
      <p:pic>
        <p:nvPicPr>
          <p:cNvPr id="209" name="Google Shape;209;p36" title="Screenshot 2026-05-12 at 3.55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250" y="1204124"/>
            <a:ext cx="7582152" cy="191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6"/>
          <p:cNvSpPr txBox="1"/>
          <p:nvPr/>
        </p:nvSpPr>
        <p:spPr>
          <a:xfrm>
            <a:off x="403050" y="3460575"/>
            <a:ext cx="8532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>
                <a:solidFill>
                  <a:schemeClr val="dk1"/>
                </a:solidFill>
              </a:rPr>
              <a:t>The XGBoost model achieved the highest predictive accuracy with the lowest RMSE (826.33 kg), proving that ensemble models effectively capture complex interactions.</a:t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/>
        </p:nvSpPr>
        <p:spPr>
          <a:xfrm>
            <a:off x="24013" y="4484600"/>
            <a:ext cx="8839200" cy="10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</p:txBody>
      </p:sp>
      <p:sp>
        <p:nvSpPr>
          <p:cNvPr id="216" name="Google Shape;216;p37"/>
          <p:cNvSpPr txBox="1"/>
          <p:nvPr/>
        </p:nvSpPr>
        <p:spPr>
          <a:xfrm>
            <a:off x="113300" y="22650"/>
            <a:ext cx="8749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RQ5：How can machine learning yield predictions be translated into practical agricultural decision-support categories?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17" name="Google Shape;217;p37" title="图片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600" y="1005875"/>
            <a:ext cx="8812776" cy="389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>
            <a:spLocks noGrp="1"/>
          </p:cNvSpPr>
          <p:nvPr>
            <p:ph type="title"/>
          </p:nvPr>
        </p:nvSpPr>
        <p:spPr>
          <a:xfrm>
            <a:off x="255150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zh-CN"/>
              <a:t>Limitations</a:t>
            </a:r>
            <a:endParaRPr/>
          </a:p>
        </p:txBody>
      </p:sp>
      <p:sp>
        <p:nvSpPr>
          <p:cNvPr id="223" name="Google Shape;223;p38"/>
          <p:cNvSpPr txBox="1">
            <a:spLocks noGrp="1"/>
          </p:cNvSpPr>
          <p:nvPr>
            <p:ph type="body" idx="1"/>
          </p:nvPr>
        </p:nvSpPr>
        <p:spPr>
          <a:xfrm>
            <a:off x="255150" y="771500"/>
            <a:ext cx="8633700" cy="42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70000"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zh-CN" sz="2600" b="1"/>
              <a:t>Conceptual</a:t>
            </a:r>
            <a:endParaRPr sz="2600" b="1"/>
          </a:p>
          <a:p>
            <a:pPr marL="457200" lvl="0" indent="-326390" algn="l" rtl="0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zh-CN" sz="2200"/>
              <a:t>Climate analyzed at agriblock level; plot-level weather not captured (RQ1) — PCA composite for management prevents ranking individual practices (RQ3)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zh-CN" sz="2600" b="1"/>
              <a:t>Data Collection</a:t>
            </a:r>
            <a:endParaRPr sz="2600" b="1"/>
          </a:p>
          <a:p>
            <a:pPr marL="457200" lvl="0" indent="-326390" algn="l" rtl="0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zh-CN" sz="2200"/>
              <a:t>Climate columns have only 3–9 distinct values; 30-day aggregates hide critical short-term events during sensitive growth stages (RQ1)</a:t>
            </a:r>
            <a:endParaRPr sz="2200"/>
          </a:p>
          <a:p>
            <a:pPr marL="457200" lvl="0" indent="-32639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zh-CN" sz="2200"/>
              <a:t>Single-region dataset with low inter-field variability may limit generalizability across all RQs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zh-CN" sz="2600" b="1"/>
              <a:t>Data Analysis</a:t>
            </a:r>
            <a:endParaRPr sz="2600" b="1"/>
          </a:p>
          <a:p>
            <a:pPr marL="457200" lvl="0" indent="-326390" algn="l" rtl="0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zh-CN" sz="2200"/>
              <a:t>Pearson correlation captures only linear relationships; climate–management interaction effects were not modeled (RQ1, RQ3)</a:t>
            </a:r>
            <a:endParaRPr sz="2200"/>
          </a:p>
          <a:p>
            <a:pPr marL="457200" lvl="0" indent="-32639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zh-CN" sz="2200"/>
              <a:t>Deep learning excluded based on data structure assumption rather than empirical testing (RQ4)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zh-CN" sz="2600" b="1"/>
              <a:t>Interpretation</a:t>
            </a:r>
            <a:endParaRPr sz="2600" b="1"/>
          </a:p>
          <a:p>
            <a:pPr marL="457200" lvl="0" indent="-326390" algn="l" rtl="0"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zh-CN" sz="2200"/>
              <a:t>R² &gt; 0.99 in RQ2/RQ4 may reflect limited data variability rather than true generalizability; low CV R² in RQ1 may partly reflect data sparsity, not absence of climate effects</a:t>
            </a:r>
            <a:endParaRPr sz="22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>
            <a:spLocks noGrp="1"/>
          </p:cNvSpPr>
          <p:nvPr>
            <p:ph type="title"/>
          </p:nvPr>
        </p:nvSpPr>
        <p:spPr>
          <a:xfrm>
            <a:off x="364625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zh-CN"/>
              <a:t>Future Work</a:t>
            </a:r>
            <a:endParaRPr/>
          </a:p>
        </p:txBody>
      </p:sp>
      <p:sp>
        <p:nvSpPr>
          <p:cNvPr id="230" name="Google Shape;230;p39"/>
          <p:cNvSpPr txBox="1">
            <a:spLocks noGrp="1"/>
          </p:cNvSpPr>
          <p:nvPr>
            <p:ph type="body" idx="1"/>
          </p:nvPr>
        </p:nvSpPr>
        <p:spPr>
          <a:xfrm>
            <a:off x="450150" y="1268038"/>
            <a:ext cx="8243700" cy="3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650">
                <a:highlight>
                  <a:srgbClr val="FFFFFF"/>
                </a:highlight>
              </a:rPr>
              <a:t>Based on our current findings, </a:t>
            </a:r>
            <a:endParaRPr sz="165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650">
                <a:highlight>
                  <a:srgbClr val="FFFFFF"/>
                </a:highlight>
              </a:rPr>
              <a:t>we propose three critical research questions for future study:</a:t>
            </a: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231" name="Google Shape;231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  <p:pic>
        <p:nvPicPr>
          <p:cNvPr id="232" name="Google Shape;232;p39" title="Screenshot 2026-05-12 at 4.04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625" y="2126200"/>
            <a:ext cx="8576250" cy="22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>
            <a:spLocks noGrp="1"/>
          </p:cNvSpPr>
          <p:nvPr>
            <p:ph type="title"/>
          </p:nvPr>
        </p:nvSpPr>
        <p:spPr>
          <a:xfrm>
            <a:off x="494575" y="2905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zh-CN"/>
              <a:t>Conclusion</a:t>
            </a:r>
            <a:endParaRPr/>
          </a:p>
        </p:txBody>
      </p:sp>
      <p:sp>
        <p:nvSpPr>
          <p:cNvPr id="238" name="Google Shape;238;p40"/>
          <p:cNvSpPr txBox="1">
            <a:spLocks noGrp="1"/>
          </p:cNvSpPr>
          <p:nvPr>
            <p:ph type="body" idx="1"/>
          </p:nvPr>
        </p:nvSpPr>
        <p:spPr>
          <a:xfrm>
            <a:off x="494575" y="10757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0416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6667"/>
              <a:buChar char="●"/>
            </a:pPr>
            <a:r>
              <a:rPr lang="zh-CN" dirty="0"/>
              <a:t>Paddy yield is shaped by both environmental conditions and agricultural management, but management-related factors showed stronger practical value for understanding yield differences.</a:t>
            </a:r>
            <a:br>
              <a:rPr lang="zh-CN" dirty="0"/>
            </a:br>
            <a:endParaRPr dirty="0"/>
          </a:p>
          <a:p>
            <a:pPr marL="457200" lvl="0" indent="-3041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6667"/>
              <a:buChar char="●"/>
            </a:pPr>
            <a:r>
              <a:rPr lang="zh-CN" dirty="0"/>
              <a:t>More focused data inputs and stronger prediction methods can help improve yield forecasting and planning.</a:t>
            </a:r>
            <a:br>
              <a:rPr lang="zh-CN" dirty="0"/>
            </a:br>
            <a:r>
              <a:rPr lang="zh-CN" dirty="0"/>
              <a:t> </a:t>
            </a:r>
            <a:endParaRPr dirty="0"/>
          </a:p>
          <a:p>
            <a:pPr marL="457200" lvl="0" indent="-3041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6667"/>
              <a:buChar char="●"/>
            </a:pPr>
            <a:r>
              <a:rPr lang="zh-CN" dirty="0"/>
              <a:t>Translating yield outcomes into low-, medium-, and high-productivity groups makes results easier for farmers and planners to use.</a:t>
            </a:r>
            <a:br>
              <a:rPr lang="zh-CN" dirty="0"/>
            </a:br>
            <a:endParaRPr dirty="0"/>
          </a:p>
        </p:txBody>
      </p:sp>
      <p:sp>
        <p:nvSpPr>
          <p:cNvPr id="239" name="Google Shape;239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1"/>
          <p:cNvSpPr txBox="1">
            <a:spLocks noGrp="1"/>
          </p:cNvSpPr>
          <p:nvPr>
            <p:ph type="title"/>
          </p:nvPr>
        </p:nvSpPr>
        <p:spPr>
          <a:xfrm>
            <a:off x="628650" y="91171"/>
            <a:ext cx="7886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zh-CN"/>
              <a:t>References</a:t>
            </a:r>
            <a:endParaRPr/>
          </a:p>
        </p:txBody>
      </p:sp>
      <p:sp>
        <p:nvSpPr>
          <p:cNvPr id="245" name="Google Shape;245;p41"/>
          <p:cNvSpPr txBox="1">
            <a:spLocks noGrp="1"/>
          </p:cNvSpPr>
          <p:nvPr>
            <p:ph type="body" idx="1"/>
          </p:nvPr>
        </p:nvSpPr>
        <p:spPr>
          <a:xfrm>
            <a:off x="628650" y="365075"/>
            <a:ext cx="8100000" cy="46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293"/>
              <a:buFont typeface="Arial"/>
              <a:buNone/>
            </a:pPr>
            <a:endParaRPr sz="3208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490"/>
              <a:buFont typeface="Arial"/>
              <a:buNone/>
            </a:pPr>
            <a:endParaRPr sz="4315" dirty="0"/>
          </a:p>
          <a:p>
            <a:pPr marL="457200" lvl="0" indent="-32591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zh-CN" sz="2900" dirty="0"/>
              <a:t>Alfred, R., Obit, J. H., Chin, C. P.-Y., Haviluddin, H., &amp; Lim, Y. (2021). Towards paddy rice smart farming: A review on big data, machine learning and rice production tasks. </a:t>
            </a:r>
            <a:r>
              <a:rPr lang="zh-CN" sz="2900" i="1" dirty="0"/>
              <a:t>IEEE Access, 9, </a:t>
            </a:r>
            <a:r>
              <a:rPr lang="zh-CN" sz="2900" dirty="0"/>
              <a:t>50358–50380. https://doi.org/10.1109/ACCESS.2021.3069449</a:t>
            </a:r>
            <a:endParaRPr sz="29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2900" dirty="0"/>
          </a:p>
          <a:p>
            <a:pPr marL="457200" lvl="0" indent="-32591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zh-CN" sz="2900" dirty="0"/>
              <a:t>Jeong, J. H., Resop, J. P., Mueller, N. D., et al. (2016). Random forests for global and regional crop yield predictions. </a:t>
            </a:r>
            <a:r>
              <a:rPr lang="zh-CN" sz="2900" i="1" dirty="0"/>
              <a:t>PLOS ONE, 11</a:t>
            </a:r>
            <a:r>
              <a:rPr lang="zh-CN" sz="2900" dirty="0"/>
              <a:t>(6). https://doi.org/10.1371/journal.pone.0156571</a:t>
            </a:r>
            <a:endParaRPr sz="29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2900" dirty="0"/>
          </a:p>
          <a:p>
            <a:pPr marL="457200" lvl="0" indent="-32591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zh-CN" sz="2900" dirty="0"/>
              <a:t>Muthukumaran, S., Peter, K. J., Dilipkumar, E., Savithri, S., &amp; Senbagam, K. (2023). A hybrid machine learning model with combined wrapper feature selection techniques to improve the yield of paddy. </a:t>
            </a:r>
            <a:r>
              <a:rPr lang="zh-CN" sz="2900" i="1" dirty="0"/>
              <a:t>International Journal of Electronics and Communication Engineering. </a:t>
            </a:r>
            <a:br>
              <a:rPr lang="en-US" altLang="zh-CN" sz="2900" i="1" dirty="0"/>
            </a:br>
            <a:r>
              <a:rPr lang="zh-CN" sz="2900" dirty="0"/>
              <a:t>https://www.internationaljournalssrg.org/IJECE/paper-details?Id=512</a:t>
            </a:r>
            <a:endParaRPr sz="29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2900" dirty="0"/>
          </a:p>
          <a:p>
            <a:pPr marL="457200" lvl="0" indent="-32591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zh-CN" sz="2900" dirty="0"/>
              <a:t>Saberali, F. S., &amp; Darzi-Naftchali, A. (2024). Yield gap analysis and the relative importance of factors explaining yield variability in paddy fields. </a:t>
            </a:r>
            <a:r>
              <a:rPr lang="zh-CN" sz="2900" i="1" dirty="0"/>
              <a:t>European Journal of Agronomy, 156. </a:t>
            </a:r>
            <a:r>
              <a:rPr lang="zh-CN" sz="2900" dirty="0"/>
              <a:t>https://www.sciencedirect.com/science/article/abs/pii/S1161030124000935</a:t>
            </a:r>
            <a:endParaRPr sz="29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2900"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3208" dirty="0"/>
          </a:p>
        </p:txBody>
      </p:sp>
      <p:sp>
        <p:nvSpPr>
          <p:cNvPr id="246" name="Google Shape;246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2"/>
          <p:cNvSpPr txBox="1">
            <a:spLocks noGrp="1"/>
          </p:cNvSpPr>
          <p:nvPr>
            <p:ph type="title"/>
          </p:nvPr>
        </p:nvSpPr>
        <p:spPr>
          <a:xfrm>
            <a:off x="628650" y="91171"/>
            <a:ext cx="7886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zh-CN"/>
              <a:t>References</a:t>
            </a:r>
            <a:endParaRPr/>
          </a:p>
        </p:txBody>
      </p:sp>
      <p:sp>
        <p:nvSpPr>
          <p:cNvPr id="252" name="Google Shape;252;p42"/>
          <p:cNvSpPr txBox="1">
            <a:spLocks noGrp="1"/>
          </p:cNvSpPr>
          <p:nvPr>
            <p:ph type="body" idx="1"/>
          </p:nvPr>
        </p:nvSpPr>
        <p:spPr>
          <a:xfrm>
            <a:off x="628650" y="621500"/>
            <a:ext cx="7946400" cy="4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293"/>
              <a:buFont typeface="Arial"/>
              <a:buNone/>
            </a:pPr>
            <a:endParaRPr sz="3208" dirty="0"/>
          </a:p>
          <a:p>
            <a:pPr marL="457200" lvl="0" indent="-32591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zh-CN" sz="2200" dirty="0"/>
              <a:t>Sah, S., Haldar, D., Singh, R., et al. (2024). Rice yield prediction through integration of biophysical parameters with SAR and optical remote sensing data using machine learning models. </a:t>
            </a:r>
            <a:r>
              <a:rPr lang="zh-CN" sz="2200" i="1" dirty="0"/>
              <a:t>Scientific Reports, 14</a:t>
            </a:r>
            <a:r>
              <a:rPr lang="zh-CN" sz="2200" dirty="0"/>
              <a:t>. https://doi.org/10.1038/s41598-024-72624-4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2200" dirty="0"/>
          </a:p>
          <a:p>
            <a:pPr marL="457200" lvl="0" indent="-32591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zh-CN" sz="2200" dirty="0"/>
              <a:t>Sahoo, R. K., Ray, S. S., &amp; Manjunath, K. R. (2024). Advanced prediction of rice yield gaps under climate uncertainty using machine learning techniques in Eastern India. </a:t>
            </a:r>
            <a:r>
              <a:rPr lang="zh-CN" sz="2200" i="1" dirty="0"/>
              <a:t>Journal of Agriculture and Food Research, 8</a:t>
            </a:r>
            <a:r>
              <a:rPr lang="zh-CN" sz="2200" dirty="0"/>
              <a:t>, Article 100617. https://doi.org/10.1016/j.jafr.2024.100617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2200" dirty="0"/>
          </a:p>
          <a:p>
            <a:pPr marL="457200" lvl="0" indent="-32591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zh-CN" sz="2200" dirty="0"/>
              <a:t>UCI Machine Learning Repository. (2024). Paddy crop dataset. University of California, Irvine. https://archive.ics.uci.edu/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endParaRPr sz="2200" dirty="0"/>
          </a:p>
          <a:p>
            <a:pPr marL="457200" lvl="0" indent="-32591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zh-CN" sz="2200" dirty="0"/>
              <a:t>Wickramasinghe, L., Weliwatta, R., Ekanayake, P., &amp; Jayasinghe, J. (2021). Modeling the relationship between rice yield and climate variables using statistical and machine learning techniques. </a:t>
            </a:r>
            <a:r>
              <a:rPr lang="zh-CN" sz="2200" i="1" dirty="0"/>
              <a:t>Journal of Mathematics, 2021</a:t>
            </a:r>
            <a:r>
              <a:rPr lang="zh-CN" sz="2200" dirty="0"/>
              <a:t>(1), Article 6646126. </a:t>
            </a:r>
            <a:br>
              <a:rPr lang="en-US" altLang="zh-CN" sz="2200" dirty="0"/>
            </a:br>
            <a:r>
              <a:rPr lang="zh-CN" sz="2200" dirty="0"/>
              <a:t>https://doi.org/10.1155/2021/6646126</a:t>
            </a:r>
            <a:endParaRPr sz="2200"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3208" dirty="0"/>
          </a:p>
        </p:txBody>
      </p:sp>
      <p:sp>
        <p:nvSpPr>
          <p:cNvPr id="253" name="Google Shape;253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1394</Words>
  <Application>Microsoft Macintosh PowerPoint</Application>
  <PresentationFormat>On-screen Show (16:9)</PresentationFormat>
  <Paragraphs>111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Play</vt:lpstr>
      <vt:lpstr>Simple Light</vt:lpstr>
      <vt:lpstr>Office Theme</vt:lpstr>
      <vt:lpstr>Predicting Paddy Yield with Machine Learning: An Integrated Analysis of Climate, Agricultural Management, and Ensemble Models</vt:lpstr>
      <vt:lpstr>Introduction</vt:lpstr>
      <vt:lpstr>Literature Review</vt:lpstr>
      <vt:lpstr>Research Questions </vt:lpstr>
      <vt:lpstr>Methods </vt:lpstr>
      <vt:lpstr>Methods </vt:lpstr>
      <vt:lpstr>Results/Discussion (RQ1)  </vt:lpstr>
      <vt:lpstr>Results/Discussion (RQ1)  </vt:lpstr>
      <vt:lpstr>Results/Discussion (RQ1)  </vt:lpstr>
      <vt:lpstr>RQ2 Results: Random Forest gained the clearest benefit from feature selection</vt:lpstr>
      <vt:lpstr>RQ3: What is the nature of the effect of the agricultural management practices on paddy yield?</vt:lpstr>
      <vt:lpstr>RQ4 Results: Which machine learning methods provide the most accurate and practical estimates of paddy yield for farm decision-making? </vt:lpstr>
      <vt:lpstr>PowerPoint Presentation</vt:lpstr>
      <vt:lpstr>Limitations</vt:lpstr>
      <vt:lpstr>Future Work</vt:lpstr>
      <vt:lpstr>Conclusion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Xu, Ke</cp:lastModifiedBy>
  <cp:revision>2</cp:revision>
  <dcterms:modified xsi:type="dcterms:W3CDTF">2026-05-13T17:26:14Z</dcterms:modified>
</cp:coreProperties>
</file>